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85" r:id="rId2"/>
    <p:sldId id="263" r:id="rId3"/>
    <p:sldId id="264" r:id="rId4"/>
    <p:sldId id="265" r:id="rId5"/>
    <p:sldId id="261" r:id="rId6"/>
    <p:sldId id="267" r:id="rId7"/>
    <p:sldId id="262" r:id="rId8"/>
    <p:sldId id="269" r:id="rId9"/>
    <p:sldId id="271" r:id="rId10"/>
    <p:sldId id="273" r:id="rId11"/>
    <p:sldId id="284" r:id="rId12"/>
    <p:sldId id="283" r:id="rId13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9293"/>
    <a:srgbClr val="808281"/>
    <a:srgbClr val="929393"/>
    <a:srgbClr val="939393"/>
    <a:srgbClr val="11FFFE"/>
    <a:srgbClr val="36ABFF"/>
    <a:srgbClr val="0D0A27"/>
    <a:srgbClr val="37ABFF"/>
    <a:srgbClr val="F1FEFE"/>
    <a:srgbClr val="85A0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45" autoAdjust="0"/>
    <p:restoredTop sz="94660"/>
  </p:normalViewPr>
  <p:slideViewPr>
    <p:cSldViewPr snapToGrid="0" showGuides="1">
      <p:cViewPr>
        <p:scale>
          <a:sx n="60" d="100"/>
          <a:sy n="60" d="100"/>
        </p:scale>
        <p:origin x="3114" y="42"/>
      </p:cViewPr>
      <p:guideLst>
        <p:guide orient="horz" pos="4032"/>
        <p:guide pos="302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8B089FE-5646-9CF7-A0CD-D9371092F7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8ADF765-FF2C-6672-30DF-4E02B0FCB8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E237D1-EB3E-42ED-8017-A3E0F540A544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3EF68CF-250A-55FC-E1E4-D9C6F5A555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12F9274-313E-B987-AB97-907ACC11A21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93A92-22D6-4927-AF67-7D3B866A4A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93338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8E0544-B9E7-47A8-ABD7-B3CFDECA6595}" type="datetimeFigureOut">
              <a:rPr lang="pt-BR" smtClean="0"/>
              <a:t>07/10/2025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A01F6-44E6-448B-9319-3BC869F75E0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810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A7FA6-2E8B-4BDB-AD6A-888A75F37CD8}" type="datetime1">
              <a:rPr lang="pt-BR" smtClean="0"/>
              <a:t>07/10/2025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 Despertar da Renda - Alexsander Ribeiro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5406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5C199-CF64-481E-8B7E-F7AA8C93A9C2}" type="datetime1">
              <a:rPr lang="pt-BR" smtClean="0"/>
              <a:t>07/10/2025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 Despertar da Renda - Alexsander Ribeiro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109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EEAC9-485C-4EC6-89F9-F3F3A14A6180}" type="datetime1">
              <a:rPr lang="pt-BR" smtClean="0"/>
              <a:t>07/10/2025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 Despertar da Renda - Alexsander Ribeiro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98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5ACF1-735C-448E-95C8-6862D09A285E}" type="datetime1">
              <a:rPr lang="pt-BR" smtClean="0"/>
              <a:t>07/10/2025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 Despertar da Renda - Alexsander Ribeiro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093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4C539-284B-4C3A-893F-2C308D0165DB}" type="datetime1">
              <a:rPr lang="pt-BR" smtClean="0"/>
              <a:t>07/10/2025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 Despertar da Renda - Alexsander Ribeiro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575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0D71-4AD1-43EC-8567-67DCF28D11AB}" type="datetime1">
              <a:rPr lang="pt-BR" smtClean="0"/>
              <a:t>07/10/2025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 Despertar da Renda - Alexsander Ribeiro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5468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B22EF7-6859-4963-A87A-8E75CF85B84D}" type="datetime1">
              <a:rPr lang="pt-BR" smtClean="0"/>
              <a:t>07/10/2025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 Despertar da Renda - Alexsander Ribeiro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948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C4484-E03A-4E60-ABBF-19C09D669DF5}" type="datetime1">
              <a:rPr lang="pt-BR" smtClean="0"/>
              <a:t>07/10/2025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 Despertar da Renda - Alexsander Ribeiro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0915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16FB69-4DBB-4313-94AB-E9BB61017196}" type="datetime1">
              <a:rPr lang="pt-BR" smtClean="0"/>
              <a:t>07/10/2025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 Despertar da Renda - Alexsander Ribeiro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6099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6E6A8-A581-4518-9136-EAD1A6E2AE54}" type="datetime1">
              <a:rPr lang="pt-BR" smtClean="0"/>
              <a:t>07/10/2025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 Despertar da Renda - Alexsander Ribeiro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5203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324AA-5FF8-4F60-BD54-F375F95D013A}" type="datetime1">
              <a:rPr lang="pt-BR" smtClean="0"/>
              <a:t>07/10/2025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 Despertar da Renda - Alexsander Ribeiro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176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B699E-8B75-4B9B-82FA-A9E23762E2D3}" type="datetime1">
              <a:rPr lang="pt-BR" smtClean="0"/>
              <a:t>07/10/2025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O Despertar da Renda - Alexsander Ribeiro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46D60-96CE-4402-8D7C-2F4B1C38268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392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50407-DE3B-F106-E469-CB5EA5ECC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742E0683-4B62-9E5D-7B28-DA2FADAC6089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rgbClr val="808281"/>
          </a:solidFill>
          <a:ln>
            <a:solidFill>
              <a:srgbClr val="9393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14" name="fundo_subtitulo">
            <a:extLst>
              <a:ext uri="{FF2B5EF4-FFF2-40B4-BE49-F238E27FC236}">
                <a16:creationId xmlns:a16="http://schemas.microsoft.com/office/drawing/2014/main" id="{BF1CB91E-0E97-66C3-4ABD-15598019804F}"/>
              </a:ext>
            </a:extLst>
          </p:cNvPr>
          <p:cNvSpPr/>
          <p:nvPr/>
        </p:nvSpPr>
        <p:spPr>
          <a:xfrm>
            <a:off x="0" y="2229827"/>
            <a:ext cx="9601200" cy="143214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1A5105E-7EAD-452D-5381-8DCDB608624A}"/>
              </a:ext>
            </a:extLst>
          </p:cNvPr>
          <p:cNvSpPr txBox="1"/>
          <p:nvPr/>
        </p:nvSpPr>
        <p:spPr>
          <a:xfrm>
            <a:off x="699308" y="306552"/>
            <a:ext cx="10124699" cy="1200329"/>
          </a:xfrm>
          <a:prstGeom prst="rect">
            <a:avLst/>
          </a:prstGeom>
          <a:noFill/>
          <a:ln>
            <a:noFill/>
          </a:ln>
          <a:effectLst>
            <a:glow rad="1092200">
              <a:schemeClr val="accent1">
                <a:alpha val="28000"/>
              </a:schemeClr>
            </a:glow>
            <a:outerShdw blurRad="50800" dist="50800" dir="5400000" algn="ctr" rotWithShape="0">
              <a:srgbClr val="000000"/>
            </a:outerShdw>
          </a:effectLst>
        </p:spPr>
        <p:txBody>
          <a:bodyPr wrap="square" rtlCol="0">
            <a:spAutoFit/>
          </a:bodyPr>
          <a:lstStyle/>
          <a:p>
            <a:r>
              <a:rPr lang="pt-BR" sz="7200" dirty="0">
                <a:solidFill>
                  <a:schemeClr val="bg1"/>
                </a:solidFill>
                <a:effectLst>
                  <a:glow rad="342900">
                    <a:schemeClr val="tx1">
                      <a:lumMod val="95000"/>
                      <a:lumOff val="5000"/>
                    </a:schemeClr>
                  </a:glow>
                  <a:outerShdw blurRad="50800" dist="50800" dir="5400000" algn="ctr" rotWithShape="0">
                    <a:schemeClr val="tx1">
                      <a:lumMod val="50000"/>
                      <a:lumOff val="50000"/>
                    </a:schemeClr>
                  </a:outerShdw>
                </a:effectLst>
                <a:latin typeface="8BIT WONDER" panose="00000400000000000000" pitchFamily="2" charset="0"/>
              </a:rPr>
              <a:t>O Despertar da Renda</a:t>
            </a:r>
          </a:p>
        </p:txBody>
      </p:sp>
      <p:sp>
        <p:nvSpPr>
          <p:cNvPr id="13" name="subtitulo">
            <a:extLst>
              <a:ext uri="{FF2B5EF4-FFF2-40B4-BE49-F238E27FC236}">
                <a16:creationId xmlns:a16="http://schemas.microsoft.com/office/drawing/2014/main" id="{529702A7-42B5-1912-3DAA-71C090B15D97}"/>
              </a:ext>
            </a:extLst>
          </p:cNvPr>
          <p:cNvSpPr txBox="1"/>
          <p:nvPr/>
        </p:nvSpPr>
        <p:spPr>
          <a:xfrm>
            <a:off x="932665" y="2342513"/>
            <a:ext cx="81336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bg1"/>
                </a:solidFill>
                <a:latin typeface="Impact" panose="020B0806030902050204" pitchFamily="34" charset="0"/>
              </a:rPr>
              <a:t>Um guia para se defender do lado sombrio das compras por impulso e dos juros</a:t>
            </a:r>
          </a:p>
        </p:txBody>
      </p:sp>
      <p:sp>
        <p:nvSpPr>
          <p:cNvPr id="16" name="fundo_rodape">
            <a:extLst>
              <a:ext uri="{FF2B5EF4-FFF2-40B4-BE49-F238E27FC236}">
                <a16:creationId xmlns:a16="http://schemas.microsoft.com/office/drawing/2014/main" id="{FC699916-C3DC-81ED-1285-F6440A41069C}"/>
              </a:ext>
            </a:extLst>
          </p:cNvPr>
          <p:cNvSpPr/>
          <p:nvPr/>
        </p:nvSpPr>
        <p:spPr>
          <a:xfrm>
            <a:off x="2612571" y="11632661"/>
            <a:ext cx="4378164" cy="830997"/>
          </a:xfrm>
          <a:prstGeom prst="rect">
            <a:avLst/>
          </a:prstGeom>
          <a:solidFill>
            <a:schemeClr val="tx1">
              <a:lumMod val="65000"/>
              <a:lumOff val="3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odape">
            <a:extLst>
              <a:ext uri="{FF2B5EF4-FFF2-40B4-BE49-F238E27FC236}">
                <a16:creationId xmlns:a16="http://schemas.microsoft.com/office/drawing/2014/main" id="{82E9D850-C27C-9B79-5EF9-2E33AA9A87EA}"/>
              </a:ext>
            </a:extLst>
          </p:cNvPr>
          <p:cNvSpPr txBox="1"/>
          <p:nvPr/>
        </p:nvSpPr>
        <p:spPr>
          <a:xfrm>
            <a:off x="3008282" y="11742893"/>
            <a:ext cx="3982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Impact" panose="020B0806030902050204" pitchFamily="34" charset="0"/>
              </a:rPr>
              <a:t>Alexsander Ribeiro</a:t>
            </a:r>
          </a:p>
        </p:txBody>
      </p:sp>
      <p:pic>
        <p:nvPicPr>
          <p:cNvPr id="20" name="Imagem 19" descr="Diagrama&#10;&#10;O conteúdo gerado por IA pode estar incorreto.">
            <a:extLst>
              <a:ext uri="{FF2B5EF4-FFF2-40B4-BE49-F238E27FC236}">
                <a16:creationId xmlns:a16="http://schemas.microsoft.com/office/drawing/2014/main" id="{46020B6B-4B8B-6E0E-9E33-B998B3464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79"/>
          <a:stretch>
            <a:fillRect/>
          </a:stretch>
        </p:blipFill>
        <p:spPr>
          <a:xfrm>
            <a:off x="1143519" y="4135503"/>
            <a:ext cx="7314161" cy="660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9827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70768" y="3048946"/>
            <a:ext cx="781664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Você já sentiu que o seu salário desaparece poucos dias depois de cair na conta? Que, por mais que se esforce, parece impossível guardar dinheiro? Você não está sozinho. Muitos de nós somos atraídos para o "lado sombrio" das finanças, onde as compras por impulso e os juros agem como vilões silenciosos, sabotando nossos sonhos.</a:t>
            </a:r>
          </a:p>
          <a:p>
            <a:pPr algn="ctr"/>
            <a:endParaRPr lang="pt-BR" sz="2400" dirty="0"/>
          </a:p>
          <a:p>
            <a:pPr algn="ctr"/>
            <a:r>
              <a:rPr lang="pt-BR" sz="2400" dirty="0"/>
              <a:t>Este guia é um chamado para o despertar. Vamos expor as principais causas dos gastos descontrolados de uma maneira simples e direta, mostrando como você pode se defender e, finalmente, tomar as rédeas da sua vida financeira.</a:t>
            </a:r>
          </a:p>
          <a:p>
            <a:pPr algn="ctr"/>
            <a:endParaRPr lang="pt-BR" sz="2400" dirty="0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120149" y="638478"/>
            <a:ext cx="87304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Acendendo a Luz da Consciência Financeira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3548456-7C95-80DE-D379-01E177977A3D}"/>
              </a:ext>
            </a:extLst>
          </p:cNvPr>
          <p:cNvSpPr/>
          <p:nvPr/>
        </p:nvSpPr>
        <p:spPr>
          <a:xfrm>
            <a:off x="684530" y="-216345"/>
            <a:ext cx="144000" cy="1512000"/>
          </a:xfrm>
          <a:prstGeom prst="rect">
            <a:avLst/>
          </a:prstGeom>
          <a:gradFill flip="none" rotWithShape="1">
            <a:gsLst>
              <a:gs pos="14000">
                <a:srgbClr val="939293"/>
              </a:gs>
              <a:gs pos="51000">
                <a:schemeClr val="bg1">
                  <a:lumMod val="65000"/>
                </a:schemeClr>
              </a:gs>
              <a:gs pos="68000">
                <a:schemeClr val="bg1">
                  <a:lumMod val="65000"/>
                </a:schemeClr>
              </a:gs>
              <a:gs pos="84000">
                <a:srgbClr val="A6A6A6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950483A-1B7C-BC8A-AFE0-E5A3B512F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 Despertar da Renda - Alexsander Ribeiro</a:t>
            </a:r>
            <a:endParaRPr lang="pt-BR" dirty="0"/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1966F1B7-35CA-277C-5D23-E67A2444F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400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154484"/>
            <a:ext cx="78166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O Canto da Sereia das Promoções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chemeClr val="bg1"/>
                  </a:solidFill>
                </a:ln>
                <a:noFill/>
                <a:latin typeface="Impact" panose="020B0806030902050204" pitchFamily="34" charset="0"/>
              </a:rPr>
              <a:t>01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351BD98C-D072-63C9-21C3-E1219F48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dirty="0"/>
              <a:t>O Despertar da Renda - Alexsander Ribeiro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E200A01C-BA5B-3A36-1BF1-0562AE8A1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3</a:t>
            </a:fld>
            <a:endParaRPr lang="pt-BR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FEA7F68-88F9-3D91-5B60-F2462663B9E3}"/>
              </a:ext>
            </a:extLst>
          </p:cNvPr>
          <p:cNvSpPr/>
          <p:nvPr/>
        </p:nvSpPr>
        <p:spPr>
          <a:xfrm rot="5400000">
            <a:off x="4802922" y="5036628"/>
            <a:ext cx="108000" cy="7704000"/>
          </a:xfrm>
          <a:prstGeom prst="rect">
            <a:avLst/>
          </a:prstGeom>
          <a:gradFill flip="none" rotWithShape="1">
            <a:gsLst>
              <a:gs pos="14000">
                <a:srgbClr val="939293"/>
              </a:gs>
              <a:gs pos="51000">
                <a:schemeClr val="bg1">
                  <a:lumMod val="65000"/>
                </a:schemeClr>
              </a:gs>
              <a:gs pos="68000">
                <a:schemeClr val="bg1">
                  <a:lumMod val="65000"/>
                </a:schemeClr>
              </a:gs>
              <a:gs pos="84000">
                <a:srgbClr val="A6A6A6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8510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92276" y="2777587"/>
            <a:ext cx="78166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/>
              <a:t>A primeira grande armadilha é a compra por impulso. É aquela voz que sussurra "está na promoção!", "você merece!" ou "só hoje por 50% de desconto!". O marketing é projetado para criar um senso de urgência e desejo, nos fazendo comprar coisas que não precisamos com um dinheiro que não planejamos gastar.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784555" y="832096"/>
            <a:ext cx="78166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O Canto da Sereia das Promoções</a:t>
            </a:r>
          </a:p>
        </p:txBody>
      </p:sp>
      <p:sp>
        <p:nvSpPr>
          <p:cNvPr id="19" name="Espaço Reservado para Rodapé 18">
            <a:extLst>
              <a:ext uri="{FF2B5EF4-FFF2-40B4-BE49-F238E27FC236}">
                <a16:creationId xmlns:a16="http://schemas.microsoft.com/office/drawing/2014/main" id="{106B9400-10F5-C4D9-5FB4-31020CF6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 Despertar da Renda - Alexsander Ribeiro</a:t>
            </a:r>
            <a:endParaRPr lang="pt-BR" dirty="0"/>
          </a:p>
        </p:txBody>
      </p:sp>
      <p:sp>
        <p:nvSpPr>
          <p:cNvPr id="20" name="Espaço Reservado para Número de Slide 19">
            <a:extLst>
              <a:ext uri="{FF2B5EF4-FFF2-40B4-BE49-F238E27FC236}">
                <a16:creationId xmlns:a16="http://schemas.microsoft.com/office/drawing/2014/main" id="{919B02F9-1256-559A-957D-87AA95AA1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4</a:t>
            </a:fld>
            <a:endParaRPr lang="pt-BR"/>
          </a:p>
        </p:txBody>
      </p:sp>
      <p:pic>
        <p:nvPicPr>
          <p:cNvPr id="4104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A393F87C-445A-A984-0A42-8A48C42D1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3038474" y="821645"/>
            <a:ext cx="3524250" cy="2447925"/>
          </a:xfrm>
          <a:prstGeom prst="rect">
            <a:avLst/>
          </a:prstGeom>
          <a:noFill/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o_componente">
            <a:extLst>
              <a:ext uri="{FF2B5EF4-FFF2-40B4-BE49-F238E27FC236}">
                <a16:creationId xmlns:a16="http://schemas.microsoft.com/office/drawing/2014/main" id="{38AA2BE3-F0C8-300F-DAE4-F229F11F3324}"/>
              </a:ext>
            </a:extLst>
          </p:cNvPr>
          <p:cNvSpPr txBox="1"/>
          <p:nvPr/>
        </p:nvSpPr>
        <p:spPr>
          <a:xfrm>
            <a:off x="1003424" y="4648469"/>
            <a:ext cx="781664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b="1" dirty="0"/>
              <a:t>Exemplo de Caso Real:</a:t>
            </a:r>
            <a:endParaRPr lang="pt-BR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Mariana</a:t>
            </a:r>
            <a:r>
              <a:rPr lang="pt-BR" sz="2000" dirty="0"/>
              <a:t> estava voltando do trabalho quando passou pela vitrine de uma loja e viu um tênis com 30% de desconto. Ela já tinha vários pares em casa e não precisava de um novo, mas o medo de "perder a oportunidade" foi mais forte. Ela entrou, comprou e, ao chegar em casa, sentiu um misto de euforia e arrependimento. Aqueles R$ 150,00 não estavam no seu orçamento e fariam falta no final do mês.</a:t>
            </a:r>
          </a:p>
        </p:txBody>
      </p:sp>
      <p:sp>
        <p:nvSpPr>
          <p:cNvPr id="7" name="texto_componente">
            <a:extLst>
              <a:ext uri="{FF2B5EF4-FFF2-40B4-BE49-F238E27FC236}">
                <a16:creationId xmlns:a16="http://schemas.microsoft.com/office/drawing/2014/main" id="{184B7CF8-F985-B04F-C769-E0482993CFEC}"/>
              </a:ext>
            </a:extLst>
          </p:cNvPr>
          <p:cNvSpPr txBox="1"/>
          <p:nvPr/>
        </p:nvSpPr>
        <p:spPr>
          <a:xfrm>
            <a:off x="892277" y="7208129"/>
            <a:ext cx="781664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Como Resolver:</a:t>
            </a:r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Crie a Regra das 24 Horas:</a:t>
            </a:r>
            <a:r>
              <a:rPr lang="pt-BR" sz="2000" dirty="0"/>
              <a:t> Viu algo que deseja comprar por impulso? Espere 24 horas. Se o desejo continuar tão forte depois desse tempo, avalie se a compra realmente faz sentido. Na maioria das vezes, a vontade simplesmente passa.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Vá às Compras com uma Lista:</a:t>
            </a:r>
            <a:r>
              <a:rPr lang="pt-BR" sz="2000" dirty="0"/>
              <a:t> Seja no supermercado ou no shopping, tenha uma lista clara do que você precisa comprar e se atenha a ela. Isso cria um foco e diminui as chances de desvio.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Cancele E-mails Promocionais:</a:t>
            </a:r>
            <a:r>
              <a:rPr lang="pt-BR" sz="2000" dirty="0"/>
              <a:t> Remova a tentação da sua caixa de entrada. Cancele a inscrição de e-mails de lojas que mais te fazem gastar.</a:t>
            </a:r>
          </a:p>
          <a:p>
            <a:pPr algn="just"/>
            <a:endParaRPr lang="pt-BR" sz="2000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7C2C2F3-A381-297D-3EFA-C610DA886A28}"/>
              </a:ext>
            </a:extLst>
          </p:cNvPr>
          <p:cNvSpPr/>
          <p:nvPr/>
        </p:nvSpPr>
        <p:spPr>
          <a:xfrm>
            <a:off x="684530" y="-216345"/>
            <a:ext cx="144000" cy="1512000"/>
          </a:xfrm>
          <a:prstGeom prst="rect">
            <a:avLst/>
          </a:prstGeom>
          <a:gradFill flip="none" rotWithShape="1">
            <a:gsLst>
              <a:gs pos="14000">
                <a:srgbClr val="939293"/>
              </a:gs>
              <a:gs pos="51000">
                <a:schemeClr val="bg1">
                  <a:lumMod val="65000"/>
                </a:schemeClr>
              </a:gs>
              <a:gs pos="68000">
                <a:schemeClr val="bg1">
                  <a:lumMod val="65000"/>
                </a:schemeClr>
              </a:gs>
              <a:gs pos="84000">
                <a:srgbClr val="A6A6A6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6699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635464" y="6350077"/>
            <a:ext cx="844291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dirty="0">
                <a:solidFill>
                  <a:schemeClr val="bg1"/>
                </a:solidFill>
                <a:latin typeface="Impact" panose="020B0806030902050204" pitchFamily="34" charset="0"/>
              </a:rPr>
              <a:t>O Vazamento Silencioso dos Pequenos Gastos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chemeClr val="bg1"/>
                  </a:solidFill>
                </a:ln>
                <a:noFill/>
                <a:latin typeface="Impact" panose="020B0806030902050204" pitchFamily="34" charset="0"/>
              </a:rPr>
              <a:t>02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90E6D8A5-1A1A-B921-5118-21A6BD3F4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 Despertar da Renda - Alexsander Ribeiro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ED097E9B-2BDA-D42C-D47C-437D8B79E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5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73AB4E2-9CEA-DB3D-7A91-49CDBFA870BD}"/>
              </a:ext>
            </a:extLst>
          </p:cNvPr>
          <p:cNvSpPr/>
          <p:nvPr/>
        </p:nvSpPr>
        <p:spPr>
          <a:xfrm rot="5400000">
            <a:off x="4802922" y="4936892"/>
            <a:ext cx="108000" cy="7704000"/>
          </a:xfrm>
          <a:prstGeom prst="rect">
            <a:avLst/>
          </a:prstGeom>
          <a:gradFill flip="none" rotWithShape="1">
            <a:gsLst>
              <a:gs pos="14000">
                <a:srgbClr val="939293"/>
              </a:gs>
              <a:gs pos="51000">
                <a:schemeClr val="bg1">
                  <a:lumMod val="65000"/>
                </a:schemeClr>
              </a:gs>
              <a:gs pos="68000">
                <a:schemeClr val="bg1">
                  <a:lumMod val="65000"/>
                </a:schemeClr>
              </a:gs>
              <a:gs pos="84000">
                <a:srgbClr val="A6A6A6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70432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937274" y="2971703"/>
            <a:ext cx="78166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/>
              <a:t>Muitas vezes, o que afunda nosso orçamento não é uma grande compra, mas os pequenos gastos diários que parecem inofensivos. O cafezinho na padaria, o lanche por delivery, a tarifa daquele aplicativo. Sozinhos, eles não parecem nada, mas juntos, formam um verdadeiro rombo no final do mês.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784555" y="539655"/>
            <a:ext cx="7816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O Vazamento Silencioso dos Pequenos Gastos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D2798D93-ED72-CD33-880D-2C72AA1C4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 Despertar da Renda - Alexsander Ribeiro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51B58DE0-4197-A9DA-3C15-1110405E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6</a:t>
            </a:fld>
            <a:endParaRPr lang="pt-BR"/>
          </a:p>
        </p:txBody>
      </p:sp>
      <p:pic>
        <p:nvPicPr>
          <p:cNvPr id="4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FC59B58C-815C-A0F2-C8E5-DEDDAC5AAB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3038474" y="1071021"/>
            <a:ext cx="3524250" cy="2447925"/>
          </a:xfrm>
          <a:prstGeom prst="rect">
            <a:avLst/>
          </a:prstGeom>
          <a:noFill/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7C115B0E-5CD0-5BEF-4C18-182F891A2725}"/>
              </a:ext>
            </a:extLst>
          </p:cNvPr>
          <p:cNvSpPr/>
          <p:nvPr/>
        </p:nvSpPr>
        <p:spPr>
          <a:xfrm>
            <a:off x="684530" y="-216345"/>
            <a:ext cx="144000" cy="1512000"/>
          </a:xfrm>
          <a:prstGeom prst="rect">
            <a:avLst/>
          </a:prstGeom>
          <a:gradFill flip="none" rotWithShape="1">
            <a:gsLst>
              <a:gs pos="14000">
                <a:srgbClr val="939293"/>
              </a:gs>
              <a:gs pos="51000">
                <a:schemeClr val="bg1">
                  <a:lumMod val="65000"/>
                </a:schemeClr>
              </a:gs>
              <a:gs pos="68000">
                <a:schemeClr val="bg1">
                  <a:lumMod val="65000"/>
                </a:schemeClr>
              </a:gs>
              <a:gs pos="84000">
                <a:srgbClr val="A6A6A6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exto_componente">
            <a:extLst>
              <a:ext uri="{FF2B5EF4-FFF2-40B4-BE49-F238E27FC236}">
                <a16:creationId xmlns:a16="http://schemas.microsoft.com/office/drawing/2014/main" id="{6C55472A-0F6E-EC17-8C12-03AD0D681896}"/>
              </a:ext>
            </a:extLst>
          </p:cNvPr>
          <p:cNvSpPr txBox="1"/>
          <p:nvPr/>
        </p:nvSpPr>
        <p:spPr>
          <a:xfrm>
            <a:off x="937274" y="4768971"/>
            <a:ext cx="781664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Exemplo de Caso Real:</a:t>
            </a:r>
            <a:endParaRPr lang="pt-BR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Carlos</a:t>
            </a:r>
            <a:r>
              <a:rPr lang="pt-BR" sz="2000" dirty="0"/>
              <a:t> tem o hábito de tomar um café com pão de queijo na padaria perto do seu trabalho toda manhã, gastando cerca de R$ 12,00. Ele também pede comida por aplicativo umas três vezes por semana, com um custo médio de R$ 30,00 por pedido. Somando tudo, Carlos gasta mais de R$ 600,00 por mês com esses "pequenos" hábitos, um dinheiro que poderia estar investindo ou usando para pagar uma dívida.</a:t>
            </a:r>
          </a:p>
        </p:txBody>
      </p:sp>
      <p:sp>
        <p:nvSpPr>
          <p:cNvPr id="9" name="texto_componente">
            <a:extLst>
              <a:ext uri="{FF2B5EF4-FFF2-40B4-BE49-F238E27FC236}">
                <a16:creationId xmlns:a16="http://schemas.microsoft.com/office/drawing/2014/main" id="{B4EFFF8C-25DF-AB72-92DB-E7F70F221D7E}"/>
              </a:ext>
            </a:extLst>
          </p:cNvPr>
          <p:cNvSpPr txBox="1"/>
          <p:nvPr/>
        </p:nvSpPr>
        <p:spPr>
          <a:xfrm>
            <a:off x="937273" y="7541221"/>
            <a:ext cx="781664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Como Resolver:</a:t>
            </a:r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Anote Tudo por 30 Dias:</a:t>
            </a:r>
            <a:r>
              <a:rPr lang="pt-BR" sz="2000" dirty="0"/>
              <a:t> Use um caderno ou um aplicativo de finanças e anote absolutamente </a:t>
            </a:r>
            <a:r>
              <a:rPr lang="pt-BR" sz="2000" i="1" dirty="0"/>
              <a:t>todos</a:t>
            </a:r>
            <a:r>
              <a:rPr lang="pt-BR" sz="2000" dirty="0"/>
              <a:t> os seus gastos por um mês. Você ficará surpreso ao ver para onde seu dinheiro realmente está indo.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Prepare em Casa:</a:t>
            </a:r>
            <a:r>
              <a:rPr lang="pt-BR" sz="2000" dirty="0"/>
              <a:t> Leve seu próprio café em uma garrafa térmica e prepare seus lanches. Você pode economizar uma quantia significativa ao longo do ano.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Defina um Orçamento para "Pequenos Prazeres":</a:t>
            </a:r>
            <a:r>
              <a:rPr lang="pt-BR" sz="2000" dirty="0"/>
              <a:t> Não é preciso cortar tudo. Defina um valor semanal para esses gastos (</a:t>
            </a:r>
            <a:r>
              <a:rPr lang="pt-BR" sz="2000" dirty="0" err="1"/>
              <a:t>ex</a:t>
            </a:r>
            <a:r>
              <a:rPr lang="pt-BR" sz="2000" dirty="0"/>
              <a:t>: R$ 50,00 por semana) e se esforce para não ultrapassá-lo.</a:t>
            </a:r>
          </a:p>
        </p:txBody>
      </p:sp>
    </p:spTree>
    <p:extLst>
      <p:ext uri="{BB962C8B-B14F-4D97-AF65-F5344CB8AC3E}">
        <p14:creationId xmlns:p14="http://schemas.microsoft.com/office/powerpoint/2010/main" val="3385887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dirty="0">
                <a:solidFill>
                  <a:schemeClr val="bg1"/>
                </a:solidFill>
                <a:latin typeface="Impact" panose="020B0806030902050204" pitchFamily="34" charset="0"/>
              </a:rPr>
              <a:t>A Ilusão de Poder do Cartão de Crédito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chemeClr val="bg1"/>
                  </a:solidFill>
                </a:ln>
                <a:noFill/>
                <a:latin typeface="Impact" panose="020B0806030902050204" pitchFamily="34" charset="0"/>
              </a:rPr>
              <a:t>03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ED5FF5DA-5CF2-1E22-3C5B-B6117E870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 Despertar da Renda - Alexsander Ribeiro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CFFF15F9-9106-7134-AA2D-FD2E7ED9E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7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091C4A38-6F7D-184B-FA34-071D656BE041}"/>
              </a:ext>
            </a:extLst>
          </p:cNvPr>
          <p:cNvSpPr/>
          <p:nvPr/>
        </p:nvSpPr>
        <p:spPr>
          <a:xfrm rot="5400000">
            <a:off x="4802922" y="4936892"/>
            <a:ext cx="108000" cy="7704000"/>
          </a:xfrm>
          <a:prstGeom prst="rect">
            <a:avLst/>
          </a:prstGeom>
          <a:gradFill flip="none" rotWithShape="1">
            <a:gsLst>
              <a:gs pos="14000">
                <a:srgbClr val="939293"/>
              </a:gs>
              <a:gs pos="51000">
                <a:schemeClr val="bg1">
                  <a:lumMod val="65000"/>
                </a:schemeClr>
              </a:gs>
              <a:gs pos="68000">
                <a:schemeClr val="bg1">
                  <a:lumMod val="65000"/>
                </a:schemeClr>
              </a:gs>
              <a:gs pos="84000">
                <a:srgbClr val="A6A6A6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8851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70768" y="3437215"/>
            <a:ext cx="78166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/>
              <a:t>O cartão de crédito nos dá uma falsa sensação de que temos mais dinheiro do que realmente possuímos. Ele cria uma distância entre o ato de comprar e a dor de pagar. O verdadeiro perigo mora nos juros rotativos: ao pagar apenas o mínimo da </a:t>
            </a:r>
            <a:r>
              <a:rPr lang="pt-BR" dirty="0"/>
              <a:t>fatura</a:t>
            </a:r>
            <a:r>
              <a:rPr lang="pt-BR" sz="2000" dirty="0"/>
              <a:t>, uma dívida pequena pode se transformar em uma bola de neve gigante em pouquíssimo tempo.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528818" y="676006"/>
            <a:ext cx="7816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A Ilusão de Poder do Cartão de Crédito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16565A60-9FB1-1F97-0762-8DE359BBB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 Despertar da Renda - Alexsander Ribeiro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30BC083C-9C5F-F316-D781-2502741E5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8</a:t>
            </a:fld>
            <a:endParaRPr lang="pt-BR"/>
          </a:p>
        </p:txBody>
      </p:sp>
      <p:sp>
        <p:nvSpPr>
          <p:cNvPr id="4" name="texto_componente">
            <a:extLst>
              <a:ext uri="{FF2B5EF4-FFF2-40B4-BE49-F238E27FC236}">
                <a16:creationId xmlns:a16="http://schemas.microsoft.com/office/drawing/2014/main" id="{C1F251E2-14F7-C745-F169-AFE24E670285}"/>
              </a:ext>
            </a:extLst>
          </p:cNvPr>
          <p:cNvSpPr txBox="1"/>
          <p:nvPr/>
        </p:nvSpPr>
        <p:spPr>
          <a:xfrm>
            <a:off x="1023168" y="5335293"/>
            <a:ext cx="781664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b="1" dirty="0"/>
              <a:t>Exemplo de Caso Real:</a:t>
            </a:r>
            <a:endParaRPr lang="pt-BR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João</a:t>
            </a:r>
            <a:r>
              <a:rPr lang="pt-BR" sz="2000" dirty="0"/>
              <a:t> usou o cartão para comprar uma TV nova em 10x e também para despesas do dia a dia. No fim do mês, a fatura veio R$ 2.000,00. Assustado, ele pagou apenas o valor mínimo, de R$ 300,00. No mês seguinte, a dívida restante de R$ 1.700,00 já havia se tornado quase R$ 1.900,00 por causa dos juros altíssimos. João entrou em um ciclo perigoso de endividamento.</a:t>
            </a:r>
          </a:p>
        </p:txBody>
      </p:sp>
      <p:sp>
        <p:nvSpPr>
          <p:cNvPr id="6" name="texto_componente">
            <a:extLst>
              <a:ext uri="{FF2B5EF4-FFF2-40B4-BE49-F238E27FC236}">
                <a16:creationId xmlns:a16="http://schemas.microsoft.com/office/drawing/2014/main" id="{E07689B3-5E38-E5F0-31CD-95B6033E8520}"/>
              </a:ext>
            </a:extLst>
          </p:cNvPr>
          <p:cNvSpPr txBox="1"/>
          <p:nvPr/>
        </p:nvSpPr>
        <p:spPr>
          <a:xfrm>
            <a:off x="1175568" y="7964899"/>
            <a:ext cx="781664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Como Resolver:</a:t>
            </a:r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Pague Sempre o Valor Total da Fatura:</a:t>
            </a:r>
            <a:r>
              <a:rPr lang="pt-BR" sz="2000" dirty="0"/>
              <a:t> Esta é a regra de ouro. Pagar o mínimo deve ser uma opção apenas em emergências extremas.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Use o Cartão Como se Fosse Débito:</a:t>
            </a:r>
            <a:r>
              <a:rPr lang="pt-BR" sz="2000" dirty="0"/>
              <a:t> Antes de passar o cartão, se pergunte: "Eu tenho esse dinheiro na conta agora?". Se a resposta for não, não compre.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Limite o Parcelamento:</a:t>
            </a:r>
            <a:r>
              <a:rPr lang="pt-BR" sz="2000" dirty="0"/>
              <a:t> Evite parcelar compras pequenas. Junte o dinheiro e compre à vista. Reserve o parcelamento apenas para bens de alto valor e que já estavam planejados.</a:t>
            </a:r>
          </a:p>
        </p:txBody>
      </p:sp>
      <p:pic>
        <p:nvPicPr>
          <p:cNvPr id="8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1F4A9343-34CD-D741-F812-84F0A6D3C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3038474" y="1303772"/>
            <a:ext cx="3524250" cy="2447925"/>
          </a:xfrm>
          <a:prstGeom prst="rect">
            <a:avLst/>
          </a:prstGeom>
          <a:noFill/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804041C7-A069-5D89-2ECE-D3FBF2FBABD8}"/>
              </a:ext>
            </a:extLst>
          </p:cNvPr>
          <p:cNvSpPr/>
          <p:nvPr/>
        </p:nvSpPr>
        <p:spPr>
          <a:xfrm>
            <a:off x="684530" y="-216345"/>
            <a:ext cx="144000" cy="1512000"/>
          </a:xfrm>
          <a:prstGeom prst="rect">
            <a:avLst/>
          </a:prstGeom>
          <a:gradFill flip="none" rotWithShape="1">
            <a:gsLst>
              <a:gs pos="14000">
                <a:srgbClr val="939293"/>
              </a:gs>
              <a:gs pos="51000">
                <a:schemeClr val="bg1">
                  <a:lumMod val="65000"/>
                </a:schemeClr>
              </a:gs>
              <a:gs pos="68000">
                <a:schemeClr val="bg1">
                  <a:lumMod val="65000"/>
                </a:schemeClr>
              </a:gs>
              <a:gs pos="84000">
                <a:srgbClr val="A6A6A6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7347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chemeClr val="bg1"/>
                </a:solidFill>
                <a:latin typeface="Impact" panose="020B0806030902050204" pitchFamily="34" charset="0"/>
              </a:rPr>
              <a:t> Navegando Sem Bússola: A Falta de um Orçamento</a:t>
            </a:r>
          </a:p>
        </p:txBody>
      </p:sp>
      <p:sp>
        <p:nvSpPr>
          <p:cNvPr id="4" name="titulo_componente">
            <a:extLst>
              <a:ext uri="{FF2B5EF4-FFF2-40B4-BE49-F238E27FC236}">
                <a16:creationId xmlns:a16="http://schemas.microsoft.com/office/drawing/2014/main" id="{0E49EEBC-3AEF-FA23-4067-E0866590C14C}"/>
              </a:ext>
            </a:extLst>
          </p:cNvPr>
          <p:cNvSpPr txBox="1"/>
          <p:nvPr/>
        </p:nvSpPr>
        <p:spPr>
          <a:xfrm>
            <a:off x="807610" y="2133601"/>
            <a:ext cx="7816645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700" dirty="0">
                <a:ln>
                  <a:solidFill>
                    <a:schemeClr val="bg1"/>
                  </a:solidFill>
                </a:ln>
                <a:noFill/>
                <a:latin typeface="Impact" panose="020B0806030902050204" pitchFamily="34" charset="0"/>
              </a:rPr>
              <a:t>04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5CF477FF-E9CE-427E-324B-E4F18DF07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 Despertar da Renda - Alexsander Ribeiro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A26FB245-ED35-8115-4128-B27CC5C39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9</a:t>
            </a:fld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571BEDA-ACD2-D3A0-4644-8F8480D781F3}"/>
              </a:ext>
            </a:extLst>
          </p:cNvPr>
          <p:cNvSpPr/>
          <p:nvPr/>
        </p:nvSpPr>
        <p:spPr>
          <a:xfrm rot="5400000">
            <a:off x="4802922" y="4687513"/>
            <a:ext cx="108000" cy="7704000"/>
          </a:xfrm>
          <a:prstGeom prst="rect">
            <a:avLst/>
          </a:prstGeom>
          <a:gradFill flip="none" rotWithShape="1">
            <a:gsLst>
              <a:gs pos="14000">
                <a:srgbClr val="939293"/>
              </a:gs>
              <a:gs pos="51000">
                <a:schemeClr val="bg1">
                  <a:lumMod val="65000"/>
                </a:schemeClr>
              </a:gs>
              <a:gs pos="68000">
                <a:schemeClr val="bg1">
                  <a:lumMod val="65000"/>
                </a:schemeClr>
              </a:gs>
              <a:gs pos="84000">
                <a:srgbClr val="A6A6A6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376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70768" y="3154590"/>
            <a:ext cx="78166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000" dirty="0"/>
              <a:t>Não ter um orçamento é como tentar fazer uma longa viagem de carro sem um mapa ou GPS. Você até pode chegar a algum lugar, mas provavelmente vai se perder, gastar mais combustível do que o necessário e demorar muito mais. Sem um plano, o dinheiro simplesmente entra e sai, sem direção ou propósito.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1133274" y="633936"/>
            <a:ext cx="781664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Navegando Sem Bússola: A Falta de um Orçamento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68AAFF6A-760E-55AD-CF3D-CC5D88DC4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 Despertar da Renda - Alexsander Ribeiro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B63FA121-A564-460E-9CA1-4990FBE50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10</a:t>
            </a:fld>
            <a:endParaRPr lang="pt-BR"/>
          </a:p>
        </p:txBody>
      </p:sp>
      <p:pic>
        <p:nvPicPr>
          <p:cNvPr id="4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25B45114-81F0-A2A7-9F18-594B7B9EC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3038474" y="1303772"/>
            <a:ext cx="3524250" cy="2447925"/>
          </a:xfrm>
          <a:prstGeom prst="rect">
            <a:avLst/>
          </a:prstGeom>
          <a:noFill/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67FC8A1D-04CD-D870-8FB4-6C53417A4FF6}"/>
              </a:ext>
            </a:extLst>
          </p:cNvPr>
          <p:cNvSpPr/>
          <p:nvPr/>
        </p:nvSpPr>
        <p:spPr>
          <a:xfrm>
            <a:off x="684530" y="-216345"/>
            <a:ext cx="144000" cy="1512000"/>
          </a:xfrm>
          <a:prstGeom prst="rect">
            <a:avLst/>
          </a:prstGeom>
          <a:gradFill flip="none" rotWithShape="1">
            <a:gsLst>
              <a:gs pos="14000">
                <a:srgbClr val="939293"/>
              </a:gs>
              <a:gs pos="51000">
                <a:schemeClr val="bg1">
                  <a:lumMod val="65000"/>
                </a:schemeClr>
              </a:gs>
              <a:gs pos="68000">
                <a:schemeClr val="bg1">
                  <a:lumMod val="65000"/>
                </a:schemeClr>
              </a:gs>
              <a:gs pos="84000">
                <a:srgbClr val="A6A6A6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texto_componente">
            <a:extLst>
              <a:ext uri="{FF2B5EF4-FFF2-40B4-BE49-F238E27FC236}">
                <a16:creationId xmlns:a16="http://schemas.microsoft.com/office/drawing/2014/main" id="{210D3F85-85BF-901B-B052-B2BE4D76485D}"/>
              </a:ext>
            </a:extLst>
          </p:cNvPr>
          <p:cNvSpPr txBox="1"/>
          <p:nvPr/>
        </p:nvSpPr>
        <p:spPr>
          <a:xfrm>
            <a:off x="1023168" y="4969542"/>
            <a:ext cx="781664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Exemplo de Caso Real:</a:t>
            </a:r>
            <a:endParaRPr lang="pt-BR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Ana e Pedro</a:t>
            </a:r>
            <a:r>
              <a:rPr lang="pt-BR" sz="2000" dirty="0"/>
              <a:t> são um casal que, juntos, têm uma boa renda. No entanto, eles nunca sentam para planejar seus gastos. O dinheiro cai na conta e eles vão pagando as contas e comprando o que desejam. No final do mês, se surpreendem por não ter sobrado nada para investir no sonho deles: fazer uma viagem internacional. Eles não sabem dizer exatamente onde gastaram tudo.</a:t>
            </a:r>
          </a:p>
        </p:txBody>
      </p:sp>
      <p:sp>
        <p:nvSpPr>
          <p:cNvPr id="9" name="texto_componente">
            <a:extLst>
              <a:ext uri="{FF2B5EF4-FFF2-40B4-BE49-F238E27FC236}">
                <a16:creationId xmlns:a16="http://schemas.microsoft.com/office/drawing/2014/main" id="{8948F5B5-F7EC-C14B-9EAD-09FC7E49B271}"/>
              </a:ext>
            </a:extLst>
          </p:cNvPr>
          <p:cNvSpPr txBox="1"/>
          <p:nvPr/>
        </p:nvSpPr>
        <p:spPr>
          <a:xfrm>
            <a:off x="1175568" y="7416258"/>
            <a:ext cx="781664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/>
              <a:t>Como Resolver:</a:t>
            </a:r>
            <a:endParaRPr 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Adote um Método Simples (</a:t>
            </a:r>
            <a:r>
              <a:rPr lang="pt-BR" sz="2000" b="1" dirty="0" err="1"/>
              <a:t>Ex</a:t>
            </a:r>
            <a:r>
              <a:rPr lang="pt-BR" sz="2000" b="1" dirty="0"/>
              <a:t>: 50/30/20):</a:t>
            </a:r>
            <a:r>
              <a:rPr lang="pt-BR" sz="2000" dirty="0"/>
              <a:t> Use uma regra fácil para organizar seu dinheiro. Por exemplo: 50% da sua renda para gastos essenciais (aluguel, contas, mercado), 30% para gastos pessoais (lazer, hobbies, restaurantes) e 20% para metas financeiras (quitar dívidas, investir, poupar).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Defina Metas Claras:</a:t>
            </a:r>
            <a:r>
              <a:rPr lang="pt-BR" sz="2000" dirty="0"/>
              <a:t> Saber </a:t>
            </a:r>
            <a:r>
              <a:rPr lang="pt-BR" sz="2000" i="1" dirty="0"/>
              <a:t>para quê</a:t>
            </a:r>
            <a:r>
              <a:rPr lang="pt-BR" sz="2000" dirty="0"/>
              <a:t> você está economizando torna o processo mais fácil. "Guardar R$ 3.000,00 para a viagem de férias" é muito mais motivador do que apenas "economizar dinheiro".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pt-BR" sz="2000" b="1" dirty="0"/>
              <a:t>Revise o Orçamento Mensalmente:</a:t>
            </a:r>
            <a:r>
              <a:rPr lang="pt-BR" sz="2000" dirty="0"/>
              <a:t> Um orçamento não é escrito em pedra. A vida muda, e seu plano financeiro deve acompanhar essas mudanças. Ajuste-o sempre que necessário.</a:t>
            </a:r>
          </a:p>
        </p:txBody>
      </p:sp>
    </p:spTree>
    <p:extLst>
      <p:ext uri="{BB962C8B-B14F-4D97-AF65-F5344CB8AC3E}">
        <p14:creationId xmlns:p14="http://schemas.microsoft.com/office/powerpoint/2010/main" val="817067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0B0E586-87BE-933D-F40E-E3BBA13856E0}"/>
              </a:ext>
            </a:extLst>
          </p:cNvPr>
          <p:cNvSpPr/>
          <p:nvPr/>
        </p:nvSpPr>
        <p:spPr>
          <a:xfrm>
            <a:off x="0" y="0"/>
            <a:ext cx="9601200" cy="128016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93533FB0-D3C0-9791-4F72-0D1731465A20}"/>
              </a:ext>
            </a:extLst>
          </p:cNvPr>
          <p:cNvSpPr txBox="1"/>
          <p:nvPr/>
        </p:nvSpPr>
        <p:spPr>
          <a:xfrm>
            <a:off x="892277" y="6388320"/>
            <a:ext cx="78166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solidFill>
                  <a:schemeClr val="bg1"/>
                </a:solidFill>
                <a:latin typeface="Impact" panose="020B0806030902050204" pitchFamily="34" charset="0"/>
              </a:rPr>
              <a:t>A</a:t>
            </a:r>
            <a:r>
              <a:rPr lang="pt-BR" sz="7200" dirty="0">
                <a:solidFill>
                  <a:schemeClr val="bg1"/>
                </a:solidFill>
                <a:latin typeface="Impact" panose="020B0806030902050204" pitchFamily="34" charset="0"/>
              </a:rPr>
              <a:t>GRADECIMENTOS</a:t>
            </a:r>
          </a:p>
        </p:txBody>
      </p:sp>
      <p:sp>
        <p:nvSpPr>
          <p:cNvPr id="10" name="Espaço Reservado para Rodapé 9">
            <a:extLst>
              <a:ext uri="{FF2B5EF4-FFF2-40B4-BE49-F238E27FC236}">
                <a16:creationId xmlns:a16="http://schemas.microsoft.com/office/drawing/2014/main" id="{15C797C3-6F1E-3AA4-4225-55DBA1A40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 Despertar da Renda - Alexsander Ribeiro</a:t>
            </a:r>
          </a:p>
        </p:txBody>
      </p:sp>
      <p:sp>
        <p:nvSpPr>
          <p:cNvPr id="11" name="Espaço Reservado para Número de Slide 10">
            <a:extLst>
              <a:ext uri="{FF2B5EF4-FFF2-40B4-BE49-F238E27FC236}">
                <a16:creationId xmlns:a16="http://schemas.microsoft.com/office/drawing/2014/main" id="{37204EBB-9793-B1C1-E210-A22022EFF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11</a:t>
            </a:fld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416E362-5A88-A3DD-EF03-A571FFBA9AFF}"/>
              </a:ext>
            </a:extLst>
          </p:cNvPr>
          <p:cNvSpPr/>
          <p:nvPr/>
        </p:nvSpPr>
        <p:spPr>
          <a:xfrm rot="5400000">
            <a:off x="4802922" y="5502159"/>
            <a:ext cx="108000" cy="7704000"/>
          </a:xfrm>
          <a:prstGeom prst="rect">
            <a:avLst/>
          </a:prstGeom>
          <a:gradFill flip="none" rotWithShape="1">
            <a:gsLst>
              <a:gs pos="14000">
                <a:srgbClr val="939293"/>
              </a:gs>
              <a:gs pos="51000">
                <a:schemeClr val="bg1">
                  <a:lumMod val="65000"/>
                </a:schemeClr>
              </a:gs>
              <a:gs pos="68000">
                <a:schemeClr val="bg1">
                  <a:lumMod val="65000"/>
                </a:schemeClr>
              </a:gs>
              <a:gs pos="84000">
                <a:srgbClr val="A6A6A6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956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_componente">
            <a:extLst>
              <a:ext uri="{FF2B5EF4-FFF2-40B4-BE49-F238E27FC236}">
                <a16:creationId xmlns:a16="http://schemas.microsoft.com/office/drawing/2014/main" id="{5F8A268F-DF04-2C6F-1AF7-579F8D46FDD0}"/>
              </a:ext>
            </a:extLst>
          </p:cNvPr>
          <p:cNvSpPr txBox="1"/>
          <p:nvPr/>
        </p:nvSpPr>
        <p:spPr>
          <a:xfrm>
            <a:off x="870768" y="2822078"/>
            <a:ext cx="781664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Esse Ebook foi gerado por IA, e diagramado por humano.</a:t>
            </a:r>
            <a:br>
              <a:rPr lang="pt-BR" sz="2400" dirty="0"/>
            </a:br>
            <a:r>
              <a:rPr lang="pt-BR" sz="2400" dirty="0"/>
              <a:t>O passo a passo se encontra no meu </a:t>
            </a:r>
            <a:r>
              <a:rPr lang="pt-BR" sz="2400" dirty="0" err="1"/>
              <a:t>Github</a:t>
            </a:r>
            <a:endParaRPr lang="pt-BR" sz="2400" dirty="0"/>
          </a:p>
          <a:p>
            <a:pPr algn="ctr"/>
            <a:r>
              <a:rPr lang="pt-BR" sz="4400" dirty="0"/>
              <a:t>.</a:t>
            </a:r>
            <a:br>
              <a:rPr lang="pt-BR" sz="2400" dirty="0"/>
            </a:br>
            <a:r>
              <a:rPr lang="pt-BR" sz="2400" dirty="0"/>
              <a:t>Esse conteúdo foi gerado com fins didáticos de construção, não foi realizado uma validação cuidadosa humana no conteúdo e pode conter erros gerados por uma IA.</a:t>
            </a:r>
          </a:p>
        </p:txBody>
      </p:sp>
      <p:sp>
        <p:nvSpPr>
          <p:cNvPr id="3" name="titulo_componente">
            <a:extLst>
              <a:ext uri="{FF2B5EF4-FFF2-40B4-BE49-F238E27FC236}">
                <a16:creationId xmlns:a16="http://schemas.microsoft.com/office/drawing/2014/main" id="{26767187-6DF7-80A9-F3B9-FCD72DDF717D}"/>
              </a:ext>
            </a:extLst>
          </p:cNvPr>
          <p:cNvSpPr txBox="1"/>
          <p:nvPr/>
        </p:nvSpPr>
        <p:spPr>
          <a:xfrm>
            <a:off x="2269438" y="777781"/>
            <a:ext cx="83027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>
                <a:latin typeface="Impact" panose="020B0806030902050204" pitchFamily="34" charset="0"/>
              </a:rPr>
              <a:t>OBRIGADO POR LER ATÉ AQUI</a:t>
            </a:r>
          </a:p>
        </p:txBody>
      </p:sp>
      <p:sp>
        <p:nvSpPr>
          <p:cNvPr id="11" name="Espaço Reservado para Rodapé 10">
            <a:extLst>
              <a:ext uri="{FF2B5EF4-FFF2-40B4-BE49-F238E27FC236}">
                <a16:creationId xmlns:a16="http://schemas.microsoft.com/office/drawing/2014/main" id="{4B80E3D0-EEFE-5ED5-3B8A-29C7805C8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O Despertar da Renda - Alexsander Ribeiro</a:t>
            </a:r>
          </a:p>
        </p:txBody>
      </p:sp>
      <p:sp>
        <p:nvSpPr>
          <p:cNvPr id="12" name="Espaço Reservado para Número de Slide 11">
            <a:extLst>
              <a:ext uri="{FF2B5EF4-FFF2-40B4-BE49-F238E27FC236}">
                <a16:creationId xmlns:a16="http://schemas.microsoft.com/office/drawing/2014/main" id="{5194B7CE-3343-6082-D5FE-370D98CAE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46D60-96CE-4402-8D7C-2F4B1C382689}" type="slidenum">
              <a:rPr lang="pt-BR" smtClean="0"/>
              <a:t>12</a:t>
            </a:fld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00835EE-A170-C4AE-5EE7-9322E1BA6163}"/>
              </a:ext>
            </a:extLst>
          </p:cNvPr>
          <p:cNvSpPr/>
          <p:nvPr/>
        </p:nvSpPr>
        <p:spPr>
          <a:xfrm>
            <a:off x="870768" y="7097501"/>
            <a:ext cx="7562940" cy="6464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accent1"/>
                </a:solidFill>
              </a:rPr>
              <a:t>https://github.com/Sander0026/prompts-recipe-to-create-a-ebook_.git</a:t>
            </a:r>
          </a:p>
        </p:txBody>
      </p:sp>
      <p:pic>
        <p:nvPicPr>
          <p:cNvPr id="1026" name="Picture 2" descr="GitHub Logos and Usage · GitHub">
            <a:extLst>
              <a:ext uri="{FF2B5EF4-FFF2-40B4-BE49-F238E27FC236}">
                <a16:creationId xmlns:a16="http://schemas.microsoft.com/office/drawing/2014/main" id="{1EF46656-CC8F-7EC9-456E-5D0A6CD02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953" y="5587726"/>
            <a:ext cx="1676570" cy="1676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CF4530E8-879A-F100-3D98-964F14A60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3038474" y="738510"/>
            <a:ext cx="3524250" cy="2447925"/>
          </a:xfrm>
          <a:prstGeom prst="rect">
            <a:avLst/>
          </a:prstGeom>
          <a:noFill/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5F944186-3566-E289-8F27-02CBA99F18F1}"/>
              </a:ext>
            </a:extLst>
          </p:cNvPr>
          <p:cNvSpPr/>
          <p:nvPr/>
        </p:nvSpPr>
        <p:spPr>
          <a:xfrm>
            <a:off x="684530" y="-216345"/>
            <a:ext cx="144000" cy="1512000"/>
          </a:xfrm>
          <a:prstGeom prst="rect">
            <a:avLst/>
          </a:prstGeom>
          <a:gradFill flip="none" rotWithShape="1">
            <a:gsLst>
              <a:gs pos="14000">
                <a:srgbClr val="939293"/>
              </a:gs>
              <a:gs pos="51000">
                <a:schemeClr val="bg1">
                  <a:lumMod val="65000"/>
                </a:schemeClr>
              </a:gs>
              <a:gs pos="68000">
                <a:schemeClr val="bg1">
                  <a:lumMod val="65000"/>
                </a:schemeClr>
              </a:gs>
              <a:gs pos="84000">
                <a:srgbClr val="A6A6A6"/>
              </a:gs>
              <a:gs pos="100000">
                <a:schemeClr val="tx1">
                  <a:lumMod val="85000"/>
                  <a:lumOff val="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Picture 8" descr="Would you like to see new lightsaber variants in the future? | Fandom">
            <a:extLst>
              <a:ext uri="{FF2B5EF4-FFF2-40B4-BE49-F238E27FC236}">
                <a16:creationId xmlns:a16="http://schemas.microsoft.com/office/drawing/2014/main" id="{F832A4B2-2CDC-01EE-6FED-1A9F9E93F3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87839">
            <a:off x="3190874" y="10334166"/>
            <a:ext cx="3524250" cy="2447925"/>
          </a:xfrm>
          <a:prstGeom prst="rect">
            <a:avLst/>
          </a:prstGeom>
          <a:noFill/>
          <a:effectLst>
            <a:glow rad="127000">
              <a:schemeClr val="bg1"/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04952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5314</TotalTime>
  <Words>1397</Words>
  <Application>Microsoft Office PowerPoint</Application>
  <PresentationFormat>Papel A3 (297 x 420 mm)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8BIT WONDER</vt:lpstr>
      <vt:lpstr>Arial</vt:lpstr>
      <vt:lpstr>Calibri</vt:lpstr>
      <vt:lpstr>Calibri Light</vt:lpstr>
      <vt:lpstr>Impact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Felipe Silva Aguiar</dc:creator>
  <cp:lastModifiedBy>alexsander ribeiro</cp:lastModifiedBy>
  <cp:revision>21</cp:revision>
  <dcterms:created xsi:type="dcterms:W3CDTF">2023-06-15T14:34:16Z</dcterms:created>
  <dcterms:modified xsi:type="dcterms:W3CDTF">2025-10-07T14:34:34Z</dcterms:modified>
</cp:coreProperties>
</file>